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E66DDF5-DFD8-91BC-8D9A-C38FD78F1373}">
          <p14:sldIdLst>
            <p14:sldId id="256"/>
            <p14:sldId id="257"/>
          </p14:sldIdLst>
        </p14:section>
        <p14:section name="Data" id="{119C8509-B8F3-885D-EBDB-914D652F7468}">
          <p14:sldIdLst>
            <p14:sldId id="258"/>
            <p14:sldId id="259"/>
            <p14:sldId id="260"/>
          </p14:sldIdLst>
        </p14:section>
        <p14:section name="Method" id="{BAEEE068-46FE-B6B4-4025-2AFD77E00982}">
          <p14:sldIdLst>
            <p14:sldId id="261"/>
            <p14:sldId id="262"/>
            <p14:sldId id="263"/>
            <p14:sldId id="264"/>
          </p14:sldIdLst>
        </p14:section>
        <p14:section name="Results" id="{0B36BA63-9B3A-A66B-92E0-21CDD447764B}">
          <p14:sldIdLst>
            <p14:sldId id="265"/>
            <p14:sldId id="266"/>
            <p14:sldId id="267"/>
          </p14:sldIdLst>
        </p14:section>
        <p14:section name="Conclusion" id="{A29CC633-C947-2394-C5C7-500147D8FE0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5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values</c:v>
                </c:pt>
              </c:strCache>
            </c:strRef>
          </c:tx>
          <c:spPr>
            <a:solidFill>
              <a:srgbClr val="1FA2B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2323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Sulfate</c:v>
                </c:pt>
                <c:pt idx="1">
                  <c:v>pH</c:v>
                </c:pt>
                <c:pt idx="2">
                  <c:v>Trihalomethanes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781</c:v>
                </c:pt>
                <c:pt idx="1">
                  <c:v>491</c:v>
                </c:pt>
                <c:pt idx="2">
                  <c:v>162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A8-4B85-8246-0F61DF5B8E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32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Potability</c:v>
                </c:pt>
              </c:strCache>
            </c:strRef>
          </c:tx>
          <c:spPr>
            <a:solidFill>
              <a:srgbClr val="1FA2B3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2323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Solids</c:v>
                </c:pt>
                <c:pt idx="1">
                  <c:v>Chloramines</c:v>
                </c:pt>
                <c:pt idx="2">
                  <c:v>Trihalomethanes</c:v>
                </c:pt>
                <c:pt idx="3">
                  <c:v>Turbidity</c:v>
                </c:pt>
                <c:pt idx="4">
                  <c:v>pH</c:v>
                </c:pt>
                <c:pt idx="5">
                  <c:v>Conductivity</c:v>
                </c:pt>
                <c:pt idx="6">
                  <c:v>Hardness</c:v>
                </c:pt>
                <c:pt idx="7">
                  <c:v>Sulfate</c:v>
                </c:pt>
                <c:pt idx="8">
                  <c:v>Organic carbon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3.4000000000000002E-2</c:v>
                </c:pt>
                <c:pt idx="1">
                  <c:v>2.4E-2</c:v>
                </c:pt>
                <c:pt idx="2">
                  <c:v>7.0000000000000001E-3</c:v>
                </c:pt>
                <c:pt idx="3">
                  <c:v>2E-3</c:v>
                </c:pt>
                <c:pt idx="4">
                  <c:v>-4.0000000000000001E-3</c:v>
                </c:pt>
                <c:pt idx="5">
                  <c:v>-8.0000000000000002E-3</c:v>
                </c:pt>
                <c:pt idx="6">
                  <c:v>-1.4E-2</c:v>
                </c:pt>
                <c:pt idx="7">
                  <c:v>-2.4E-2</c:v>
                </c:pt>
                <c:pt idx="8">
                  <c:v>-0.03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48-4945-8E0A-90970EC434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32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.0000000000000007E-2"/>
          <c:min val="-0.06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1.7361111111111112E-2"/>
          <c:y val="4.3248279106621115E-2"/>
          <c:w val="0.95756172839506171"/>
          <c:h val="0.82633565261889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SMOTE</c:v>
                </c:pt>
              </c:strCache>
            </c:strRef>
          </c:tx>
          <c:spPr>
            <a:solidFill>
              <a:srgbClr val="9DBFC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2323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Not potable (0)</c:v>
                </c:pt>
                <c:pt idx="1">
                  <c:v>Potable (1)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1598</c:v>
                </c:pt>
                <c:pt idx="1">
                  <c:v>1022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86-4670-8D68-6CE80BBF1E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SMOTE</c:v>
                </c:pt>
              </c:strCache>
            </c:strRef>
          </c:tx>
          <c:spPr>
            <a:solidFill>
              <a:srgbClr val="0A4D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2323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Not potable (0)</c:v>
                </c:pt>
                <c:pt idx="1">
                  <c:v>Potable (1)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1598</c:v>
                </c:pt>
                <c:pt idx="1">
                  <c:v>1598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86-4670-8D68-6CE80BBF1E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32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9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accuracy (%)</c:v>
                </c:pt>
              </c:strCache>
            </c:strRef>
          </c:tx>
          <c:spPr>
            <a:solidFill>
              <a:srgbClr val="F28C5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28C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D8C-4234-8232-BBEB858879A9}"/>
              </c:ext>
            </c:extLst>
          </c:dPt>
          <c:dPt>
            <c:idx val="1"/>
            <c:invertIfNegative val="0"/>
            <c:bubble3D val="0"/>
            <c:spPr>
              <a:solidFill>
                <a:srgbClr val="1FA2B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D8C-4234-8232-BBEB858879A9}"/>
              </c:ext>
            </c:extLst>
          </c:dPt>
          <c:dPt>
            <c:idx val="2"/>
            <c:invertIfNegative val="0"/>
            <c:bubble3D val="0"/>
            <c:spPr>
              <a:solidFill>
                <a:srgbClr val="1FA2B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D8C-4234-8232-BBEB858879A9}"/>
              </c:ext>
            </c:extLst>
          </c:dPt>
          <c:dPt>
            <c:idx val="3"/>
            <c:invertIfNegative val="0"/>
            <c:bubble3D val="0"/>
            <c:spPr>
              <a:solidFill>
                <a:srgbClr val="1FA2B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D8C-4234-8232-BBEB858879A9}"/>
              </c:ext>
            </c:extLst>
          </c:dPt>
          <c:dPt>
            <c:idx val="4"/>
            <c:invertIfNegative val="0"/>
            <c:bubble3D val="0"/>
            <c:spPr>
              <a:solidFill>
                <a:srgbClr val="1FA2B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D8C-4234-8232-BBEB858879A9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2323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Random Forest</c:v>
                </c:pt>
                <c:pt idx="1">
                  <c:v>XGBoost</c:v>
                </c:pt>
                <c:pt idx="2">
                  <c:v>Decision Tree</c:v>
                </c:pt>
                <c:pt idx="3">
                  <c:v>KNN</c:v>
                </c:pt>
                <c:pt idx="4">
                  <c:v>SVM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69.900000000000006</c:v>
                </c:pt>
                <c:pt idx="1">
                  <c:v>67.099999999999994</c:v>
                </c:pt>
                <c:pt idx="2">
                  <c:v>61</c:v>
                </c:pt>
                <c:pt idx="3">
                  <c:v>58.9</c:v>
                </c:pt>
                <c:pt idx="4">
                  <c:v>50.4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D8C-4234-8232-BBEB858879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232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 importance</c:v>
                </c:pt>
              </c:strCache>
            </c:strRef>
          </c:tx>
          <c:spPr>
            <a:solidFill>
              <a:srgbClr val="F28C5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28C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7B2-4B4F-B5C1-9A6C21CE9CB6}"/>
              </c:ext>
            </c:extLst>
          </c:dPt>
          <c:dPt>
            <c:idx val="1"/>
            <c:invertIfNegative val="0"/>
            <c:bubble3D val="0"/>
            <c:spPr>
              <a:solidFill>
                <a:srgbClr val="F28C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7B2-4B4F-B5C1-9A6C21CE9CB6}"/>
              </c:ext>
            </c:extLst>
          </c:dPt>
          <c:dPt>
            <c:idx val="2"/>
            <c:invertIfNegative val="0"/>
            <c:bubble3D val="0"/>
            <c:spPr>
              <a:solidFill>
                <a:srgbClr val="1FA2B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7B2-4B4F-B5C1-9A6C21CE9CB6}"/>
              </c:ext>
            </c:extLst>
          </c:dPt>
          <c:dPt>
            <c:idx val="3"/>
            <c:invertIfNegative val="0"/>
            <c:bubble3D val="0"/>
            <c:spPr>
              <a:solidFill>
                <a:srgbClr val="1FA2B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7B2-4B4F-B5C1-9A6C21CE9CB6}"/>
              </c:ext>
            </c:extLst>
          </c:dPt>
          <c:dPt>
            <c:idx val="4"/>
            <c:invertIfNegative val="0"/>
            <c:bubble3D val="0"/>
            <c:spPr>
              <a:solidFill>
                <a:srgbClr val="1FA2B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7B2-4B4F-B5C1-9A6C21CE9CB6}"/>
              </c:ext>
            </c:extLst>
          </c:dPt>
          <c:dPt>
            <c:idx val="5"/>
            <c:invertIfNegative val="0"/>
            <c:bubble3D val="0"/>
            <c:spPr>
              <a:solidFill>
                <a:srgbClr val="9DBFC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7B2-4B4F-B5C1-9A6C21CE9CB6}"/>
              </c:ext>
            </c:extLst>
          </c:dPt>
          <c:dPt>
            <c:idx val="6"/>
            <c:invertIfNegative val="0"/>
            <c:bubble3D val="0"/>
            <c:spPr>
              <a:solidFill>
                <a:srgbClr val="9DBFC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7B2-4B4F-B5C1-9A6C21CE9CB6}"/>
              </c:ext>
            </c:extLst>
          </c:dPt>
          <c:dPt>
            <c:idx val="7"/>
            <c:invertIfNegative val="0"/>
            <c:bubble3D val="0"/>
            <c:spPr>
              <a:solidFill>
                <a:srgbClr val="9DBFC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97B2-4B4F-B5C1-9A6C21CE9CB6}"/>
              </c:ext>
            </c:extLst>
          </c:dPt>
          <c:dPt>
            <c:idx val="8"/>
            <c:invertIfNegative val="0"/>
            <c:bubble3D val="0"/>
            <c:spPr>
              <a:solidFill>
                <a:srgbClr val="9DBFC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97B2-4B4F-B5C1-9A6C21CE9CB6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2323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Sulfate</c:v>
                </c:pt>
                <c:pt idx="1">
                  <c:v>pH</c:v>
                </c:pt>
                <c:pt idx="2">
                  <c:v>Hardness</c:v>
                </c:pt>
                <c:pt idx="3">
                  <c:v>Chloramines</c:v>
                </c:pt>
                <c:pt idx="4">
                  <c:v>Solids</c:v>
                </c:pt>
                <c:pt idx="5">
                  <c:v>Conductivity</c:v>
                </c:pt>
                <c:pt idx="6">
                  <c:v>Turbidity</c:v>
                </c:pt>
                <c:pt idx="7">
                  <c:v>Organic carbon</c:v>
                </c:pt>
                <c:pt idx="8">
                  <c:v>Trihalomethanes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0.16300000000000001</c:v>
                </c:pt>
                <c:pt idx="1">
                  <c:v>0.159</c:v>
                </c:pt>
                <c:pt idx="2">
                  <c:v>0.125</c:v>
                </c:pt>
                <c:pt idx="3">
                  <c:v>0.11700000000000001</c:v>
                </c:pt>
                <c:pt idx="4">
                  <c:v>0.111</c:v>
                </c:pt>
                <c:pt idx="5">
                  <c:v>8.5000000000000006E-2</c:v>
                </c:pt>
                <c:pt idx="6">
                  <c:v>8.3000000000000004E-2</c:v>
                </c:pt>
                <c:pt idx="7">
                  <c:v>0.08</c:v>
                </c:pt>
                <c:pt idx="8">
                  <c:v>7.6999999999999999E-2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97B2-4B4F-B5C1-9A6C21CE9C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32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9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4226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predicting whether a water sample is potable (safe to drink) from nine water-quality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headline numbers, then three takeaways. The key honest message: the model beats the majority-class baseline (61%) only modestly, and misses most potable samples.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water_potability.csv: 3,276 samples, nine numeric measurements and a binary target. No duplicate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features have missing values; Sulfate is the worst at about 24% of rows. The classes are imbalanced: 61% not potable versus 39% potable.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Correlation of every feature with Potability from the heatmap. All values are within about 0.03 of zero, so no single measurement separates the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steps: impute, cap outliers, stratified split, scale, SMOTE on the training data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SMOTE creates 576 synthetic potable samples in the training set. The test set is untouched.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5-fold cross-validated accuracy on the SMOTE-balanced training data, default hyperparameters. Random Forest is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GridSearchCV with 108 candidates and 3-fold CV (324 fits). The grid limits depth and leaf size to reduce overfitting.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Tuned Random Forest on 656 held-out samples. Strong on the not-potable class (recall 0.94) but weak on potable (recall 0.23).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AUC of 0.66: better than random (0.50) but only moderate separation between the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Importance values are approximate (read from the notebook plot). Sulfate and pH lead; the rest are fairly flat.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key result and a concrete improvement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676656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977640"/>
            <a:ext cx="65836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6B73"/>
                </a:solidFill>
              </a:rPr>
              <a:t>Water Potability Prediction  |  Final Report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F6B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DBFC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F6B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pple 1"/>
          <p:cNvSpPr/>
          <p:nvPr/>
        </p:nvSpPr>
        <p:spPr>
          <a:xfrm>
            <a:off x="9418320" y="2606040"/>
            <a:ext cx="1645920" cy="1645920"/>
          </a:xfrm>
          <a:prstGeom prst="ellipse">
            <a:avLst/>
          </a:prstGeom>
          <a:ln w="19050">
            <a:solidFill>
              <a:schemeClr val="accent3"/>
            </a:solidFill>
            <a:prstDash val="solid"/>
          </a:ln>
        </p:spPr>
      </p:sp>
      <p:sp>
        <p:nvSpPr>
          <p:cNvPr id="3" name="Ripple 2"/>
          <p:cNvSpPr/>
          <p:nvPr/>
        </p:nvSpPr>
        <p:spPr>
          <a:xfrm>
            <a:off x="8595360" y="1783080"/>
            <a:ext cx="3291840" cy="3291840"/>
          </a:xfrm>
          <a:prstGeom prst="ellipse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4" name="Ripple 3"/>
          <p:cNvSpPr/>
          <p:nvPr/>
        </p:nvSpPr>
        <p:spPr>
          <a:xfrm>
            <a:off x="7772400" y="960120"/>
            <a:ext cx="4937760" cy="4937760"/>
          </a:xfrm>
          <a:prstGeom prst="ellipse">
            <a:avLst/>
          </a:prstGeom>
          <a:ln w="19050">
            <a:solidFill>
              <a:schemeClr val="accent3"/>
            </a:solidFill>
            <a:prstDash val="solid"/>
          </a:ln>
        </p:spPr>
      </p:sp>
      <p:sp>
        <p:nvSpPr>
          <p:cNvPr id="5" name="Ripple 4"/>
          <p:cNvSpPr/>
          <p:nvPr/>
        </p:nvSpPr>
        <p:spPr>
          <a:xfrm>
            <a:off x="6949440" y="137160"/>
            <a:ext cx="6583680" cy="6583680"/>
          </a:xfrm>
          <a:prstGeom prst="ellipse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6" name="Ripple 5"/>
          <p:cNvSpPr/>
          <p:nvPr/>
        </p:nvSpPr>
        <p:spPr>
          <a:xfrm>
            <a:off x="6126480" y="-685800"/>
            <a:ext cx="8229600" cy="8229600"/>
          </a:xfrm>
          <a:prstGeom prst="ellipse">
            <a:avLst/>
          </a:prstGeom>
          <a:ln w="19050">
            <a:solidFill>
              <a:schemeClr val="accent3"/>
            </a:solidFill>
            <a:prstDash val="solid"/>
          </a:ln>
        </p:spPr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Water Potability Prediction</a:t>
            </a:r>
            <a:endParaRPr lang="en-US" sz="4800" dirty="0"/>
          </a:p>
        </p:txBody>
      </p:sp>
      <p:sp>
        <p:nvSpPr>
          <p:cNvPr id="8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97764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3"/>
                </a:solidFill>
              </a:rPr>
              <a:t>Machine learning classification of water quality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chemeClr val="accent3"/>
                </a:solidFill>
              </a:rPr>
              <a:t>Final project report  |  October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Executive summary</a:t>
            </a:r>
            <a:endParaRPr lang="en-US" sz="3600" dirty="0"/>
          </a:p>
        </p:txBody>
      </p:sp>
      <p:sp>
        <p:nvSpPr>
          <p:cNvPr id="4" name="Stat card 1"/>
          <p:cNvSpPr/>
          <p:nvPr/>
        </p:nvSpPr>
        <p:spPr>
          <a:xfrm>
            <a:off x="548640" y="1463040"/>
            <a:ext cx="2587752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tat value 1"/>
          <p:cNvSpPr txBox="1"/>
          <p:nvPr/>
        </p:nvSpPr>
        <p:spPr>
          <a:xfrm>
            <a:off x="731520" y="1600200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3,276</a:t>
            </a:r>
            <a:endParaRPr lang="en-US" sz="4400" dirty="0"/>
          </a:p>
        </p:txBody>
      </p:sp>
      <p:sp>
        <p:nvSpPr>
          <p:cNvPr id="6" name="Stat label 1"/>
          <p:cNvSpPr txBox="1"/>
          <p:nvPr/>
        </p:nvSpPr>
        <p:spPr>
          <a:xfrm>
            <a:off x="731520" y="2468880"/>
            <a:ext cx="2221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water samples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3383280" y="1463040"/>
            <a:ext cx="2587752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Stat value 2"/>
          <p:cNvSpPr txBox="1"/>
          <p:nvPr/>
        </p:nvSpPr>
        <p:spPr>
          <a:xfrm>
            <a:off x="3566160" y="1600200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9" name="Stat label 2"/>
          <p:cNvSpPr txBox="1"/>
          <p:nvPr/>
        </p:nvSpPr>
        <p:spPr>
          <a:xfrm>
            <a:off x="3566160" y="2468880"/>
            <a:ext cx="2221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water-quality features</a:t>
            </a:r>
            <a:endParaRPr lang="en-US" sz="1400" dirty="0"/>
          </a:p>
        </p:txBody>
      </p:sp>
      <p:sp>
        <p:nvSpPr>
          <p:cNvPr id="10" name="Stat card 3"/>
          <p:cNvSpPr/>
          <p:nvPr/>
        </p:nvSpPr>
        <p:spPr>
          <a:xfrm>
            <a:off x="6217920" y="1463040"/>
            <a:ext cx="2587752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Stat value 3"/>
          <p:cNvSpPr txBox="1"/>
          <p:nvPr/>
        </p:nvSpPr>
        <p:spPr>
          <a:xfrm>
            <a:off x="6400800" y="1600200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69.9%</a:t>
            </a:r>
            <a:endParaRPr lang="en-US" sz="4400" dirty="0"/>
          </a:p>
        </p:txBody>
      </p:sp>
      <p:sp>
        <p:nvSpPr>
          <p:cNvPr id="12" name="Stat label 3"/>
          <p:cNvSpPr txBox="1"/>
          <p:nvPr/>
        </p:nvSpPr>
        <p:spPr>
          <a:xfrm>
            <a:off x="6400800" y="2468880"/>
            <a:ext cx="2221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best CV accuracy (Random Forest)</a:t>
            </a:r>
            <a:endParaRPr lang="en-US" sz="1400" dirty="0"/>
          </a:p>
        </p:txBody>
      </p:sp>
      <p:sp>
        <p:nvSpPr>
          <p:cNvPr id="13" name="Stat card 4"/>
          <p:cNvSpPr/>
          <p:nvPr/>
        </p:nvSpPr>
        <p:spPr>
          <a:xfrm>
            <a:off x="9052560" y="1463040"/>
            <a:ext cx="2587752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Stat value 4"/>
          <p:cNvSpPr txBox="1"/>
          <p:nvPr/>
        </p:nvSpPr>
        <p:spPr>
          <a:xfrm>
            <a:off x="9235440" y="1600200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66.5%</a:t>
            </a:r>
            <a:endParaRPr lang="en-US" sz="4400" dirty="0"/>
          </a:p>
        </p:txBody>
      </p:sp>
      <p:sp>
        <p:nvSpPr>
          <p:cNvPr id="15" name="Stat label 4"/>
          <p:cNvSpPr txBox="1"/>
          <p:nvPr/>
        </p:nvSpPr>
        <p:spPr>
          <a:xfrm>
            <a:off x="9235440" y="2468880"/>
            <a:ext cx="2221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test accuracy after tuning</a:t>
            </a:r>
            <a:endParaRPr lang="en-US" sz="1400" dirty="0"/>
          </a:p>
        </p:txBody>
      </p:sp>
      <p:sp>
        <p:nvSpPr>
          <p:cNvPr id="16" name="Takeaway badge 1"/>
          <p:cNvSpPr/>
          <p:nvPr/>
        </p:nvSpPr>
        <p:spPr>
          <a:xfrm>
            <a:off x="548640" y="361188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Takeaway badge 1 label"/>
          <p:cNvSpPr txBox="1"/>
          <p:nvPr/>
        </p:nvSpPr>
        <p:spPr>
          <a:xfrm>
            <a:off x="5486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Takeaway 1"/>
          <p:cNvSpPr txBox="1"/>
          <p:nvPr/>
        </p:nvSpPr>
        <p:spPr>
          <a:xfrm>
            <a:off x="1280160" y="35661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Random Forest was the strongest of five models (SVM, Random Forest, KNN, Decision Tree, XGBoost) and was tuned with GridSearchCV.</a:t>
            </a:r>
            <a:endParaRPr lang="en-US" sz="1600" dirty="0"/>
          </a:p>
        </p:txBody>
      </p:sp>
      <p:sp>
        <p:nvSpPr>
          <p:cNvPr id="19" name="Takeaway badge 2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0" name="Takeaway badge 2 label"/>
          <p:cNvSpPr txBox="1"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Takeaway 2"/>
          <p:cNvSpPr txBox="1"/>
          <p:nvPr/>
        </p:nvSpPr>
        <p:spPr>
          <a:xfrm>
            <a:off x="1280160" y="44348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tuned model reaches 66.5% test accuracy and an AUC of 0.66, versus a 61% majority-class baseline.</a:t>
            </a:r>
            <a:endParaRPr lang="en-US" sz="1600" dirty="0"/>
          </a:p>
        </p:txBody>
      </p:sp>
      <p:sp>
        <p:nvSpPr>
          <p:cNvPr id="22" name="Takeaway badge 3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3" name="Takeaway badge 3 label"/>
          <p:cNvSpPr txBox="1"/>
          <p:nvPr/>
        </p:nvSpPr>
        <p:spPr>
          <a:xfrm>
            <a:off x="54864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akeaway 3"/>
          <p:cNvSpPr txBox="1"/>
          <p:nvPr/>
        </p:nvSpPr>
        <p:spPr>
          <a:xfrm>
            <a:off x="1280160" y="53035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/>
              <a:t>The tuned model reaches 77.5% of Training accuracy. 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F6B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The dataset</a:t>
            </a:r>
            <a:endParaRPr lang="en-US" sz="3600" dirty="0"/>
          </a:p>
        </p:txBody>
      </p:sp>
      <p:sp>
        <p:nvSpPr>
          <p:cNvPr id="4" name="Dataset stat card 1"/>
          <p:cNvSpPr/>
          <p:nvPr/>
        </p:nvSpPr>
        <p:spPr>
          <a:xfrm>
            <a:off x="548640" y="146304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Dataset stat 1"/>
          <p:cNvSpPr txBox="1"/>
          <p:nvPr/>
        </p:nvSpPr>
        <p:spPr>
          <a:xfrm>
            <a:off x="777240" y="15544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3,276</a:t>
            </a:r>
            <a:endParaRPr lang="en-US" sz="4000" dirty="0"/>
          </a:p>
        </p:txBody>
      </p:sp>
      <p:sp>
        <p:nvSpPr>
          <p:cNvPr id="6" name="Dataset label 1"/>
          <p:cNvSpPr txBox="1"/>
          <p:nvPr/>
        </p:nvSpPr>
        <p:spPr>
          <a:xfrm>
            <a:off x="2377440" y="15544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samples, 0 duplicate rows</a:t>
            </a:r>
            <a:endParaRPr lang="en-US" sz="1400" dirty="0"/>
          </a:p>
        </p:txBody>
      </p:sp>
      <p:sp>
        <p:nvSpPr>
          <p:cNvPr id="7" name="Dataset stat card 2"/>
          <p:cNvSpPr/>
          <p:nvPr/>
        </p:nvSpPr>
        <p:spPr>
          <a:xfrm>
            <a:off x="548640" y="306324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Dataset stat 2"/>
          <p:cNvSpPr txBox="1"/>
          <p:nvPr/>
        </p:nvSpPr>
        <p:spPr>
          <a:xfrm>
            <a:off x="777240" y="31546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9" name="Dataset label 2"/>
          <p:cNvSpPr txBox="1"/>
          <p:nvPr/>
        </p:nvSpPr>
        <p:spPr>
          <a:xfrm>
            <a:off x="2377440" y="31546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numeric input features</a:t>
            </a:r>
            <a:endParaRPr lang="en-US" sz="1400" dirty="0"/>
          </a:p>
        </p:txBody>
      </p:sp>
      <p:sp>
        <p:nvSpPr>
          <p:cNvPr id="10" name="Dataset stat card 3"/>
          <p:cNvSpPr/>
          <p:nvPr/>
        </p:nvSpPr>
        <p:spPr>
          <a:xfrm>
            <a:off x="548640" y="466344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Dataset stat 3"/>
          <p:cNvSpPr txBox="1"/>
          <p:nvPr/>
        </p:nvSpPr>
        <p:spPr>
          <a:xfrm>
            <a:off x="777240" y="47548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2" name="Dataset label 3"/>
          <p:cNvSpPr txBox="1"/>
          <p:nvPr/>
        </p:nvSpPr>
        <p:spPr>
          <a:xfrm>
            <a:off x="2377440" y="47548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target: Potability (1 = potable, 0 = not)</a:t>
            </a:r>
            <a:endParaRPr lang="en-US" sz="1400" dirty="0"/>
          </a:p>
        </p:txBody>
      </p:sp>
      <p:sp>
        <p:nvSpPr>
          <p:cNvPr id="13" name="Feature chip 1"/>
          <p:cNvSpPr/>
          <p:nvPr/>
        </p:nvSpPr>
        <p:spPr>
          <a:xfrm>
            <a:off x="5056632" y="1463040"/>
            <a:ext cx="21945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4" name="Feature name 1"/>
          <p:cNvSpPr txBox="1"/>
          <p:nvPr/>
        </p:nvSpPr>
        <p:spPr>
          <a:xfrm>
            <a:off x="5239512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pH</a:t>
            </a:r>
            <a:endParaRPr lang="en-US" sz="1800" dirty="0"/>
          </a:p>
        </p:txBody>
      </p:sp>
      <p:sp>
        <p:nvSpPr>
          <p:cNvPr id="15" name="Feature desc 1"/>
          <p:cNvSpPr txBox="1"/>
          <p:nvPr/>
        </p:nvSpPr>
        <p:spPr>
          <a:xfrm>
            <a:off x="5239512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Acidity level</a:t>
            </a:r>
            <a:endParaRPr lang="en-US" sz="1400" dirty="0"/>
          </a:p>
        </p:txBody>
      </p:sp>
      <p:sp>
        <p:nvSpPr>
          <p:cNvPr id="16" name="Feature chip 2"/>
          <p:cNvSpPr/>
          <p:nvPr/>
        </p:nvSpPr>
        <p:spPr>
          <a:xfrm>
            <a:off x="7434072" y="1463040"/>
            <a:ext cx="21945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7" name="Feature name 2"/>
          <p:cNvSpPr txBox="1"/>
          <p:nvPr/>
        </p:nvSpPr>
        <p:spPr>
          <a:xfrm>
            <a:off x="7616952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Hardness</a:t>
            </a:r>
            <a:endParaRPr lang="en-US" sz="1800" dirty="0"/>
          </a:p>
        </p:txBody>
      </p:sp>
      <p:sp>
        <p:nvSpPr>
          <p:cNvPr id="18" name="Feature desc 2"/>
          <p:cNvSpPr txBox="1"/>
          <p:nvPr/>
        </p:nvSpPr>
        <p:spPr>
          <a:xfrm>
            <a:off x="7616952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Mineral content</a:t>
            </a:r>
            <a:endParaRPr lang="en-US" sz="1400" dirty="0"/>
          </a:p>
        </p:txBody>
      </p:sp>
      <p:sp>
        <p:nvSpPr>
          <p:cNvPr id="19" name="Feature chip 3"/>
          <p:cNvSpPr/>
          <p:nvPr/>
        </p:nvSpPr>
        <p:spPr>
          <a:xfrm>
            <a:off x="9811512" y="1463040"/>
            <a:ext cx="21945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0" name="Feature name 3"/>
          <p:cNvSpPr txBox="1"/>
          <p:nvPr/>
        </p:nvSpPr>
        <p:spPr>
          <a:xfrm>
            <a:off x="9994392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Solids</a:t>
            </a:r>
            <a:endParaRPr lang="en-US" sz="1800" dirty="0"/>
          </a:p>
        </p:txBody>
      </p:sp>
      <p:sp>
        <p:nvSpPr>
          <p:cNvPr id="21" name="Feature desc 3"/>
          <p:cNvSpPr txBox="1"/>
          <p:nvPr/>
        </p:nvSpPr>
        <p:spPr>
          <a:xfrm>
            <a:off x="9994392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Total dissolved solids</a:t>
            </a:r>
            <a:endParaRPr lang="en-US" sz="1400" dirty="0"/>
          </a:p>
        </p:txBody>
      </p:sp>
      <p:sp>
        <p:nvSpPr>
          <p:cNvPr id="22" name="Feature chip 4"/>
          <p:cNvSpPr/>
          <p:nvPr/>
        </p:nvSpPr>
        <p:spPr>
          <a:xfrm>
            <a:off x="5056632" y="3063240"/>
            <a:ext cx="21945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3" name="Feature name 4"/>
          <p:cNvSpPr txBox="1"/>
          <p:nvPr/>
        </p:nvSpPr>
        <p:spPr>
          <a:xfrm>
            <a:off x="5239512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Chloramines</a:t>
            </a:r>
            <a:endParaRPr lang="en-US" sz="1800" dirty="0"/>
          </a:p>
        </p:txBody>
      </p:sp>
      <p:sp>
        <p:nvSpPr>
          <p:cNvPr id="24" name="Feature desc 4"/>
          <p:cNvSpPr txBox="1"/>
          <p:nvPr/>
        </p:nvSpPr>
        <p:spPr>
          <a:xfrm>
            <a:off x="5239512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Chloramine concentration</a:t>
            </a:r>
            <a:endParaRPr lang="en-US" sz="1400" dirty="0"/>
          </a:p>
        </p:txBody>
      </p:sp>
      <p:sp>
        <p:nvSpPr>
          <p:cNvPr id="25" name="Feature chip 5"/>
          <p:cNvSpPr/>
          <p:nvPr/>
        </p:nvSpPr>
        <p:spPr>
          <a:xfrm>
            <a:off x="7434072" y="3063240"/>
            <a:ext cx="21945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6" name="Feature name 5"/>
          <p:cNvSpPr txBox="1"/>
          <p:nvPr/>
        </p:nvSpPr>
        <p:spPr>
          <a:xfrm>
            <a:off x="7616952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Sulfate</a:t>
            </a:r>
            <a:endParaRPr lang="en-US" sz="1800" dirty="0"/>
          </a:p>
        </p:txBody>
      </p:sp>
      <p:sp>
        <p:nvSpPr>
          <p:cNvPr id="27" name="Feature desc 5"/>
          <p:cNvSpPr txBox="1"/>
          <p:nvPr/>
        </p:nvSpPr>
        <p:spPr>
          <a:xfrm>
            <a:off x="7616952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Sulfate concentration</a:t>
            </a:r>
            <a:endParaRPr lang="en-US" sz="1400" dirty="0"/>
          </a:p>
        </p:txBody>
      </p:sp>
      <p:sp>
        <p:nvSpPr>
          <p:cNvPr id="28" name="Feature chip 6"/>
          <p:cNvSpPr/>
          <p:nvPr/>
        </p:nvSpPr>
        <p:spPr>
          <a:xfrm>
            <a:off x="9811512" y="3063240"/>
            <a:ext cx="21945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9" name="Feature name 6"/>
          <p:cNvSpPr txBox="1"/>
          <p:nvPr/>
        </p:nvSpPr>
        <p:spPr>
          <a:xfrm>
            <a:off x="9994392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Conductivity</a:t>
            </a:r>
            <a:endParaRPr lang="en-US" sz="1800" dirty="0"/>
          </a:p>
        </p:txBody>
      </p:sp>
      <p:sp>
        <p:nvSpPr>
          <p:cNvPr id="30" name="Feature desc 6"/>
          <p:cNvSpPr txBox="1"/>
          <p:nvPr/>
        </p:nvSpPr>
        <p:spPr>
          <a:xfrm>
            <a:off x="9994392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Electrical conductivity</a:t>
            </a:r>
            <a:endParaRPr lang="en-US" sz="1400" dirty="0"/>
          </a:p>
        </p:txBody>
      </p:sp>
      <p:sp>
        <p:nvSpPr>
          <p:cNvPr id="31" name="Feature chip 7"/>
          <p:cNvSpPr/>
          <p:nvPr/>
        </p:nvSpPr>
        <p:spPr>
          <a:xfrm>
            <a:off x="5056632" y="4663440"/>
            <a:ext cx="21945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32" name="Feature name 7"/>
          <p:cNvSpPr txBox="1"/>
          <p:nvPr/>
        </p:nvSpPr>
        <p:spPr>
          <a:xfrm>
            <a:off x="5239512" y="4892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Organic carbon</a:t>
            </a:r>
            <a:endParaRPr lang="en-US" sz="1800" dirty="0"/>
          </a:p>
        </p:txBody>
      </p:sp>
      <p:sp>
        <p:nvSpPr>
          <p:cNvPr id="33" name="Feature desc 7"/>
          <p:cNvSpPr txBox="1"/>
          <p:nvPr/>
        </p:nvSpPr>
        <p:spPr>
          <a:xfrm>
            <a:off x="5239512" y="5394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Organic carbon content</a:t>
            </a:r>
            <a:endParaRPr lang="en-US" sz="1400" dirty="0"/>
          </a:p>
        </p:txBody>
      </p:sp>
      <p:sp>
        <p:nvSpPr>
          <p:cNvPr id="34" name="Feature chip 8"/>
          <p:cNvSpPr/>
          <p:nvPr/>
        </p:nvSpPr>
        <p:spPr>
          <a:xfrm>
            <a:off x="7434072" y="4663440"/>
            <a:ext cx="21945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35" name="Feature name 8"/>
          <p:cNvSpPr txBox="1"/>
          <p:nvPr/>
        </p:nvSpPr>
        <p:spPr>
          <a:xfrm>
            <a:off x="7616952" y="4892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Trihalomethanes</a:t>
            </a:r>
            <a:endParaRPr lang="en-US" sz="1800" dirty="0"/>
          </a:p>
        </p:txBody>
      </p:sp>
      <p:sp>
        <p:nvSpPr>
          <p:cNvPr id="36" name="Feature desc 8"/>
          <p:cNvSpPr txBox="1"/>
          <p:nvPr/>
        </p:nvSpPr>
        <p:spPr>
          <a:xfrm>
            <a:off x="7616952" y="5394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THM concentration</a:t>
            </a:r>
            <a:endParaRPr lang="en-US" sz="1400" dirty="0"/>
          </a:p>
        </p:txBody>
      </p:sp>
      <p:sp>
        <p:nvSpPr>
          <p:cNvPr id="37" name="Feature chip 9"/>
          <p:cNvSpPr/>
          <p:nvPr/>
        </p:nvSpPr>
        <p:spPr>
          <a:xfrm>
            <a:off x="9811512" y="4663440"/>
            <a:ext cx="21945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38" name="Feature name 9"/>
          <p:cNvSpPr txBox="1"/>
          <p:nvPr/>
        </p:nvSpPr>
        <p:spPr>
          <a:xfrm>
            <a:off x="9994392" y="4892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Turbidity</a:t>
            </a:r>
            <a:endParaRPr lang="en-US" sz="1800" dirty="0"/>
          </a:p>
        </p:txBody>
      </p:sp>
      <p:sp>
        <p:nvSpPr>
          <p:cNvPr id="39" name="Feature desc 9"/>
          <p:cNvSpPr txBox="1"/>
          <p:nvPr/>
        </p:nvSpPr>
        <p:spPr>
          <a:xfrm>
            <a:off x="9994392" y="5394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Water clarity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F6B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Data quality at a glance</a:t>
            </a:r>
            <a:endParaRPr lang="en-US" sz="3600" dirty="0"/>
          </a:p>
        </p:txBody>
      </p:sp>
      <p:sp>
        <p:nvSpPr>
          <p:cNvPr id="4" name="Missing header"/>
          <p:cNvSpPr txBox="1"/>
          <p:nvPr/>
        </p:nvSpPr>
        <p:spPr>
          <a:xfrm>
            <a:off x="54864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Missing values per feature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28800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Missing caption"/>
          <p:cNvSpPr txBox="1"/>
          <p:nvPr/>
        </p:nvSpPr>
        <p:spPr>
          <a:xfrm>
            <a:off x="548640" y="54406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Sulfate is missing in 24% of rows, pH in 15% and Trihalomethanes in 5%.</a:t>
            </a:r>
            <a:endParaRPr lang="en-US" sz="1400" dirty="0"/>
          </a:p>
        </p:txBody>
      </p:sp>
      <p:sp>
        <p:nvSpPr>
          <p:cNvPr id="7" name="Class header"/>
          <p:cNvSpPr txBox="1"/>
          <p:nvPr/>
        </p:nvSpPr>
        <p:spPr>
          <a:xfrm>
            <a:off x="5832764" y="1188720"/>
            <a:ext cx="5807548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Method Used: </a:t>
            </a:r>
            <a:r>
              <a:rPr lang="en-US" sz="2400" dirty="0"/>
              <a:t>Missing values were handled using </a:t>
            </a:r>
            <a:r>
              <a:rPr lang="en-US" sz="2400" b="1" dirty="0"/>
              <a:t>mean imputation</a:t>
            </a:r>
            <a:endParaRPr lang="en-US" sz="2400" dirty="0"/>
          </a:p>
        </p:txBody>
      </p:sp>
      <p:sp>
        <p:nvSpPr>
          <p:cNvPr id="9" name="Class caption"/>
          <p:cNvSpPr txBox="1"/>
          <p:nvPr/>
        </p:nvSpPr>
        <p:spPr>
          <a:xfrm>
            <a:off x="6245352" y="54406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F6B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F17FFD-4B9C-4F51-7BD7-5EAC395BCF9F}"/>
              </a:ext>
            </a:extLst>
          </p:cNvPr>
          <p:cNvSpPr txBox="1"/>
          <p:nvPr/>
        </p:nvSpPr>
        <p:spPr>
          <a:xfrm>
            <a:off x="5943600" y="2467123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Missing values were in Sulfate (23.8%), pH (15.0%) and Trihalomethanes (4.9%).</a:t>
            </a:r>
          </a:p>
          <a:p>
            <a:pPr rtl="0"/>
            <a:endParaRPr lang="en-US" b="1" dirty="0"/>
          </a:p>
          <a:p>
            <a:pPr rtl="0"/>
            <a:endParaRPr lang="en-US" b="1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They were filled with each column’s mean, so no rows were dropped.</a:t>
            </a:r>
          </a:p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Features </a:t>
            </a:r>
            <a:r>
              <a:rPr lang="en-US" dirty="0"/>
              <a:t>correlation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65836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omment card 1"/>
          <p:cNvSpPr/>
          <p:nvPr/>
        </p:nvSpPr>
        <p:spPr>
          <a:xfrm>
            <a:off x="7498080" y="1463040"/>
            <a:ext cx="414223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Comment head 1"/>
          <p:cNvSpPr txBox="1"/>
          <p:nvPr/>
        </p:nvSpPr>
        <p:spPr>
          <a:xfrm>
            <a:off x="7726680" y="160020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Strongest link: r = 0.034</a:t>
            </a:r>
            <a:endParaRPr lang="en-US" sz="1800" dirty="0"/>
          </a:p>
        </p:txBody>
      </p:sp>
      <p:sp>
        <p:nvSpPr>
          <p:cNvPr id="7" name="Comment body 1"/>
          <p:cNvSpPr txBox="1"/>
          <p:nvPr/>
        </p:nvSpPr>
        <p:spPr>
          <a:xfrm>
            <a:off x="7726680" y="1993392"/>
            <a:ext cx="3685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Solids correlates most with potability, and it is still close to zero.</a:t>
            </a:r>
            <a:endParaRPr lang="en-US" sz="1400" dirty="0"/>
          </a:p>
        </p:txBody>
      </p:sp>
      <p:sp>
        <p:nvSpPr>
          <p:cNvPr id="8" name="Comment card 2"/>
          <p:cNvSpPr/>
          <p:nvPr/>
        </p:nvSpPr>
        <p:spPr>
          <a:xfrm>
            <a:off x="7498080" y="3154680"/>
            <a:ext cx="414223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Comment head 2"/>
          <p:cNvSpPr txBox="1"/>
          <p:nvPr/>
        </p:nvSpPr>
        <p:spPr>
          <a:xfrm>
            <a:off x="7726680" y="329184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Features are fairly independent</a:t>
            </a:r>
            <a:endParaRPr lang="en-US" sz="1800" dirty="0"/>
          </a:p>
        </p:txBody>
      </p:sp>
      <p:sp>
        <p:nvSpPr>
          <p:cNvPr id="10" name="Comment body 2"/>
          <p:cNvSpPr txBox="1"/>
          <p:nvPr/>
        </p:nvSpPr>
        <p:spPr>
          <a:xfrm>
            <a:off x="7726680" y="3685032"/>
            <a:ext cx="3685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strongest feature pair is Solids vs Sulfate at r = -0.17.</a:t>
            </a:r>
            <a:endParaRPr lang="en-US" sz="1400" dirty="0"/>
          </a:p>
        </p:txBody>
      </p:sp>
      <p:sp>
        <p:nvSpPr>
          <p:cNvPr id="13" name="Comment body 3"/>
          <p:cNvSpPr txBox="1"/>
          <p:nvPr/>
        </p:nvSpPr>
        <p:spPr>
          <a:xfrm>
            <a:off x="7726680" y="5376672"/>
            <a:ext cx="3685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F6B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Preprocessing pipeline</a:t>
            </a:r>
            <a:endParaRPr lang="en-US" sz="3600" dirty="0"/>
          </a:p>
        </p:txBody>
      </p:sp>
      <p:sp>
        <p:nvSpPr>
          <p:cNvPr id="4" name="Pipeline card 1"/>
          <p:cNvSpPr/>
          <p:nvPr/>
        </p:nvSpPr>
        <p:spPr>
          <a:xfrm>
            <a:off x="548640" y="1645920"/>
            <a:ext cx="2035454" cy="384048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Pipeline badge 1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6" name="Pipeline badge 1 label"/>
          <p:cNvSpPr txBox="1"/>
          <p:nvPr/>
        </p:nvSpPr>
        <p:spPr>
          <a:xfrm>
            <a:off x="7772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Pipeline title 1"/>
          <p:cNvSpPr txBox="1"/>
          <p:nvPr/>
        </p:nvSpPr>
        <p:spPr>
          <a:xfrm>
            <a:off x="777240" y="2743200"/>
            <a:ext cx="1578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Impute</a:t>
            </a:r>
            <a:endParaRPr lang="en-US" sz="2000" dirty="0"/>
          </a:p>
        </p:txBody>
      </p:sp>
      <p:sp>
        <p:nvSpPr>
          <p:cNvPr id="8" name="Pipeline text 1"/>
          <p:cNvSpPr txBox="1"/>
          <p:nvPr/>
        </p:nvSpPr>
        <p:spPr>
          <a:xfrm>
            <a:off x="777240" y="3291840"/>
            <a:ext cx="15782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Missing pH, Sulfate and Trihalomethanes filled with the column mean.</a:t>
            </a:r>
            <a:endParaRPr lang="en-US" sz="1600" dirty="0"/>
          </a:p>
        </p:txBody>
      </p:sp>
      <p:sp>
        <p:nvSpPr>
          <p:cNvPr id="9" name="Pipeline card 2"/>
          <p:cNvSpPr/>
          <p:nvPr/>
        </p:nvSpPr>
        <p:spPr>
          <a:xfrm>
            <a:off x="2812694" y="1645920"/>
            <a:ext cx="2035454" cy="384048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Pipeline badge 2"/>
          <p:cNvSpPr/>
          <p:nvPr/>
        </p:nvSpPr>
        <p:spPr>
          <a:xfrm>
            <a:off x="3041294" y="1874520"/>
            <a:ext cx="640080" cy="640080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1" name="Pipeline badge 2 label"/>
          <p:cNvSpPr txBox="1"/>
          <p:nvPr/>
        </p:nvSpPr>
        <p:spPr>
          <a:xfrm>
            <a:off x="3041294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Pipeline title 2"/>
          <p:cNvSpPr txBox="1"/>
          <p:nvPr/>
        </p:nvSpPr>
        <p:spPr>
          <a:xfrm>
            <a:off x="3041294" y="2743200"/>
            <a:ext cx="1578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Cap outliers</a:t>
            </a:r>
            <a:endParaRPr lang="en-US" sz="2000" dirty="0"/>
          </a:p>
        </p:txBody>
      </p:sp>
      <p:sp>
        <p:nvSpPr>
          <p:cNvPr id="13" name="Pipeline text 2"/>
          <p:cNvSpPr txBox="1"/>
          <p:nvPr/>
        </p:nvSpPr>
        <p:spPr>
          <a:xfrm>
            <a:off x="3041294" y="3291840"/>
            <a:ext cx="15782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IQR rule (1.5 x IQR): extreme values are capped, not removed.</a:t>
            </a:r>
            <a:endParaRPr lang="en-US" sz="1600" dirty="0"/>
          </a:p>
        </p:txBody>
      </p:sp>
      <p:sp>
        <p:nvSpPr>
          <p:cNvPr id="14" name="Pipeline card 3"/>
          <p:cNvSpPr/>
          <p:nvPr/>
        </p:nvSpPr>
        <p:spPr>
          <a:xfrm>
            <a:off x="5076749" y="1645920"/>
            <a:ext cx="2035454" cy="384048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Pipeline badge 3"/>
          <p:cNvSpPr/>
          <p:nvPr/>
        </p:nvSpPr>
        <p:spPr>
          <a:xfrm>
            <a:off x="5305349" y="1874520"/>
            <a:ext cx="640080" cy="640080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6" name="Pipeline badge 3 label"/>
          <p:cNvSpPr txBox="1"/>
          <p:nvPr/>
        </p:nvSpPr>
        <p:spPr>
          <a:xfrm>
            <a:off x="5305349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Pipeline title 3"/>
          <p:cNvSpPr txBox="1"/>
          <p:nvPr/>
        </p:nvSpPr>
        <p:spPr>
          <a:xfrm>
            <a:off x="5305349" y="2743200"/>
            <a:ext cx="1578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Split</a:t>
            </a:r>
            <a:endParaRPr lang="en-US" sz="2000" dirty="0"/>
          </a:p>
        </p:txBody>
      </p:sp>
      <p:sp>
        <p:nvSpPr>
          <p:cNvPr id="18" name="Pipeline text 3"/>
          <p:cNvSpPr txBox="1"/>
          <p:nvPr/>
        </p:nvSpPr>
        <p:spPr>
          <a:xfrm>
            <a:off x="5305349" y="3291840"/>
            <a:ext cx="15782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Stratified 80/20 split: 2,620 training and 656 test samples.</a:t>
            </a:r>
            <a:endParaRPr lang="en-US" sz="1600" dirty="0"/>
          </a:p>
        </p:txBody>
      </p:sp>
      <p:sp>
        <p:nvSpPr>
          <p:cNvPr id="19" name="Pipeline card 4"/>
          <p:cNvSpPr/>
          <p:nvPr/>
        </p:nvSpPr>
        <p:spPr>
          <a:xfrm>
            <a:off x="7340803" y="1645920"/>
            <a:ext cx="2035454" cy="384048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Pipeline badge 4"/>
          <p:cNvSpPr/>
          <p:nvPr/>
        </p:nvSpPr>
        <p:spPr>
          <a:xfrm>
            <a:off x="7569403" y="1874520"/>
            <a:ext cx="640080" cy="640080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1" name="Pipeline badge 4 label"/>
          <p:cNvSpPr txBox="1"/>
          <p:nvPr/>
        </p:nvSpPr>
        <p:spPr>
          <a:xfrm>
            <a:off x="7569403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Pipeline title 4"/>
          <p:cNvSpPr txBox="1"/>
          <p:nvPr/>
        </p:nvSpPr>
        <p:spPr>
          <a:xfrm>
            <a:off x="7569403" y="2743200"/>
            <a:ext cx="1578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Scale</a:t>
            </a:r>
            <a:endParaRPr lang="en-US" sz="2000" dirty="0"/>
          </a:p>
        </p:txBody>
      </p:sp>
      <p:sp>
        <p:nvSpPr>
          <p:cNvPr id="23" name="Pipeline text 4"/>
          <p:cNvSpPr txBox="1"/>
          <p:nvPr/>
        </p:nvSpPr>
        <p:spPr>
          <a:xfrm>
            <a:off x="7569403" y="3291840"/>
            <a:ext cx="15782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StandardScaler fitted on the training data.</a:t>
            </a:r>
            <a:endParaRPr lang="en-US" sz="1600" dirty="0"/>
          </a:p>
        </p:txBody>
      </p:sp>
      <p:sp>
        <p:nvSpPr>
          <p:cNvPr id="24" name="Pipeline card 5"/>
          <p:cNvSpPr/>
          <p:nvPr/>
        </p:nvSpPr>
        <p:spPr>
          <a:xfrm>
            <a:off x="9604858" y="1645920"/>
            <a:ext cx="2035454" cy="384048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5" name="Pipeline badge 5"/>
          <p:cNvSpPr/>
          <p:nvPr/>
        </p:nvSpPr>
        <p:spPr>
          <a:xfrm>
            <a:off x="9833458" y="1874520"/>
            <a:ext cx="640080" cy="640080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6" name="Pipeline badge 5 label"/>
          <p:cNvSpPr txBox="1"/>
          <p:nvPr/>
        </p:nvSpPr>
        <p:spPr>
          <a:xfrm>
            <a:off x="9833458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Pipeline title 5"/>
          <p:cNvSpPr txBox="1"/>
          <p:nvPr/>
        </p:nvSpPr>
        <p:spPr>
          <a:xfrm>
            <a:off x="9833458" y="2743200"/>
            <a:ext cx="1578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Balance</a:t>
            </a:r>
            <a:endParaRPr lang="en-US" sz="2000" dirty="0"/>
          </a:p>
        </p:txBody>
      </p:sp>
      <p:sp>
        <p:nvSpPr>
          <p:cNvPr id="28" name="Pipeline text 5"/>
          <p:cNvSpPr txBox="1"/>
          <p:nvPr/>
        </p:nvSpPr>
        <p:spPr>
          <a:xfrm>
            <a:off x="9833458" y="3291840"/>
            <a:ext cx="15782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SMOTE on the training set: 1,598 samples per class.</a:t>
            </a:r>
            <a:endParaRPr lang="en-US" sz="1600" dirty="0"/>
          </a:p>
        </p:txBody>
      </p:sp>
      <p:sp>
        <p:nvSpPr>
          <p:cNvPr id="29" name="Pipeline note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F6B73"/>
                </a:solidFill>
              </a:rPr>
              <a:t>Each step is simple and uses standard scikit-learn / imbalanced-learn tools.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F6B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Balancing classes with SMOTE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44424285"/>
              </p:ext>
            </p:extLst>
          </p:nvPr>
        </p:nvGraphicFramePr>
        <p:xfrm>
          <a:off x="548640" y="1371600"/>
          <a:ext cx="65836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omment card 1"/>
          <p:cNvSpPr/>
          <p:nvPr/>
        </p:nvSpPr>
        <p:spPr>
          <a:xfrm>
            <a:off x="7498080" y="1463040"/>
            <a:ext cx="414223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Comment head 1"/>
          <p:cNvSpPr txBox="1"/>
          <p:nvPr/>
        </p:nvSpPr>
        <p:spPr>
          <a:xfrm>
            <a:off x="7726680" y="160020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+576 synthetic samples</a:t>
            </a:r>
            <a:endParaRPr lang="en-US" sz="1800" dirty="0"/>
          </a:p>
        </p:txBody>
      </p:sp>
      <p:sp>
        <p:nvSpPr>
          <p:cNvPr id="7" name="Comment body 1"/>
          <p:cNvSpPr txBox="1"/>
          <p:nvPr/>
        </p:nvSpPr>
        <p:spPr>
          <a:xfrm>
            <a:off x="7726680" y="1993392"/>
            <a:ext cx="3685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SMOTE interpolates new potable samples between existing neighbours.</a:t>
            </a:r>
            <a:endParaRPr lang="en-US" sz="1400" dirty="0"/>
          </a:p>
        </p:txBody>
      </p:sp>
      <p:sp>
        <p:nvSpPr>
          <p:cNvPr id="8" name="Comment card 2"/>
          <p:cNvSpPr/>
          <p:nvPr/>
        </p:nvSpPr>
        <p:spPr>
          <a:xfrm>
            <a:off x="7498080" y="3154680"/>
            <a:ext cx="414223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Comment head 2"/>
          <p:cNvSpPr txBox="1"/>
          <p:nvPr/>
        </p:nvSpPr>
        <p:spPr>
          <a:xfrm>
            <a:off x="7726680" y="329184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Training set only</a:t>
            </a:r>
            <a:endParaRPr lang="en-US" sz="1800" dirty="0"/>
          </a:p>
        </p:txBody>
      </p:sp>
      <p:sp>
        <p:nvSpPr>
          <p:cNvPr id="10" name="Comment body 2"/>
          <p:cNvSpPr txBox="1"/>
          <p:nvPr/>
        </p:nvSpPr>
        <p:spPr>
          <a:xfrm>
            <a:off x="7726680" y="3685032"/>
            <a:ext cx="3685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656-row test set keeps its original split of 400 / 256.</a:t>
            </a:r>
            <a:endParaRPr lang="en-US" sz="1400" dirty="0"/>
          </a:p>
        </p:txBody>
      </p:sp>
      <p:sp>
        <p:nvSpPr>
          <p:cNvPr id="11" name="Comment card 3"/>
          <p:cNvSpPr/>
          <p:nvPr/>
        </p:nvSpPr>
        <p:spPr>
          <a:xfrm>
            <a:off x="7498080" y="4846320"/>
            <a:ext cx="414223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Comment head 3"/>
          <p:cNvSpPr txBox="1"/>
          <p:nvPr/>
        </p:nvSpPr>
        <p:spPr>
          <a:xfrm>
            <a:off x="7726680" y="498348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Why balance?</a:t>
            </a:r>
            <a:endParaRPr lang="en-US" sz="1800" dirty="0"/>
          </a:p>
        </p:txBody>
      </p:sp>
      <p:sp>
        <p:nvSpPr>
          <p:cNvPr id="13" name="Comment body 3"/>
          <p:cNvSpPr txBox="1"/>
          <p:nvPr/>
        </p:nvSpPr>
        <p:spPr>
          <a:xfrm>
            <a:off x="7726680" y="5376672"/>
            <a:ext cx="3685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With 61% / 39% classes, models lean towards the majority class.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F6B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Comparing five models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65836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omment card 1"/>
          <p:cNvSpPr/>
          <p:nvPr/>
        </p:nvSpPr>
        <p:spPr>
          <a:xfrm>
            <a:off x="7498080" y="1463040"/>
            <a:ext cx="414223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Comment head 1"/>
          <p:cNvSpPr txBox="1"/>
          <p:nvPr/>
        </p:nvSpPr>
        <p:spPr>
          <a:xfrm>
            <a:off x="7726680" y="160020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Random Forest leads: 69.9%</a:t>
            </a:r>
            <a:endParaRPr lang="en-US" sz="1800" dirty="0"/>
          </a:p>
        </p:txBody>
      </p:sp>
      <p:sp>
        <p:nvSpPr>
          <p:cNvPr id="7" name="Comment body 1"/>
          <p:cNvSpPr txBox="1"/>
          <p:nvPr/>
        </p:nvSpPr>
        <p:spPr>
          <a:xfrm>
            <a:off x="7726680" y="1993392"/>
            <a:ext cx="3685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Best 5-fold CV accuracy among the five default models.</a:t>
            </a:r>
            <a:endParaRPr lang="en-US" sz="1400" dirty="0"/>
          </a:p>
        </p:txBody>
      </p:sp>
      <p:sp>
        <p:nvSpPr>
          <p:cNvPr id="8" name="Comment card 2"/>
          <p:cNvSpPr/>
          <p:nvPr/>
        </p:nvSpPr>
        <p:spPr>
          <a:xfrm>
            <a:off x="7498080" y="3154680"/>
            <a:ext cx="414223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Comment head 2"/>
          <p:cNvSpPr txBox="1"/>
          <p:nvPr/>
        </p:nvSpPr>
        <p:spPr>
          <a:xfrm>
            <a:off x="7726680" y="329184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XGBoost is close: 67.1%</a:t>
            </a:r>
            <a:endParaRPr lang="en-US" sz="1800" dirty="0"/>
          </a:p>
        </p:txBody>
      </p:sp>
      <p:sp>
        <p:nvSpPr>
          <p:cNvPr id="10" name="Comment body 2"/>
          <p:cNvSpPr txBox="1"/>
          <p:nvPr/>
        </p:nvSpPr>
        <p:spPr>
          <a:xfrm>
            <a:off x="7726680" y="3685032"/>
            <a:ext cx="3685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Tree ensembles beat the single Decision Tree (61.0%).</a:t>
            </a:r>
            <a:endParaRPr lang="en-US" sz="1400" dirty="0"/>
          </a:p>
        </p:txBody>
      </p:sp>
      <p:sp>
        <p:nvSpPr>
          <p:cNvPr id="11" name="Comment card 3"/>
          <p:cNvSpPr/>
          <p:nvPr/>
        </p:nvSpPr>
        <p:spPr>
          <a:xfrm>
            <a:off x="7498080" y="4846320"/>
            <a:ext cx="414223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Comment head 3"/>
          <p:cNvSpPr txBox="1"/>
          <p:nvPr/>
        </p:nvSpPr>
        <p:spPr>
          <a:xfrm>
            <a:off x="7726680" y="498348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SVM and KNN struggle</a:t>
            </a:r>
            <a:endParaRPr lang="en-US" sz="1800" dirty="0"/>
          </a:p>
        </p:txBody>
      </p:sp>
      <p:sp>
        <p:nvSpPr>
          <p:cNvPr id="13" name="Comment body 3"/>
          <p:cNvSpPr txBox="1"/>
          <p:nvPr/>
        </p:nvSpPr>
        <p:spPr>
          <a:xfrm>
            <a:off x="7726680" y="5376672"/>
            <a:ext cx="3685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They were trained on unscaled features, which hurts distance-based models.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F6B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Tuning the Random Forest</a:t>
            </a:r>
            <a:endParaRPr lang="en-US" sz="3600" dirty="0"/>
          </a:p>
        </p:txBody>
      </p:sp>
      <p:graphicFrame>
        <p:nvGraphicFramePr>
          <p:cNvPr id="10" name="Gri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035040" cy="3200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Parameter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Values searched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n_estimators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100, 200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max_depth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5, 8, 10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min_samples_split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10, 20, 30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min_samples_leaf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5, 10, 15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max_features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sqrt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max_samples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0.7, 0.8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uning stat card 1"/>
          <p:cNvSpPr/>
          <p:nvPr/>
        </p:nvSpPr>
        <p:spPr>
          <a:xfrm>
            <a:off x="6949440" y="1463040"/>
            <a:ext cx="469087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uning stat 1"/>
          <p:cNvSpPr txBox="1"/>
          <p:nvPr/>
        </p:nvSpPr>
        <p:spPr>
          <a:xfrm>
            <a:off x="7178040" y="1554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324</a:t>
            </a:r>
            <a:endParaRPr lang="en-US" sz="4000" dirty="0"/>
          </a:p>
        </p:txBody>
      </p:sp>
      <p:sp>
        <p:nvSpPr>
          <p:cNvPr id="8" name="Tuning label 1"/>
          <p:cNvSpPr txBox="1"/>
          <p:nvPr/>
        </p:nvSpPr>
        <p:spPr>
          <a:xfrm>
            <a:off x="9098280" y="15544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model fits (108 candidates x 3 folds)</a:t>
            </a:r>
            <a:endParaRPr lang="en-US" sz="1400" dirty="0"/>
          </a:p>
        </p:txBody>
      </p:sp>
      <p:sp>
        <p:nvSpPr>
          <p:cNvPr id="9" name="Tuning stat card 2"/>
          <p:cNvSpPr/>
          <p:nvPr/>
        </p:nvSpPr>
        <p:spPr>
          <a:xfrm>
            <a:off x="6949440" y="2971800"/>
            <a:ext cx="469087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" name="Tuning stat 2"/>
          <p:cNvSpPr txBox="1"/>
          <p:nvPr/>
        </p:nvSpPr>
        <p:spPr>
          <a:xfrm>
            <a:off x="7178040" y="3063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66.5%</a:t>
            </a:r>
            <a:endParaRPr lang="en-US" sz="4000" dirty="0"/>
          </a:p>
        </p:txBody>
      </p:sp>
      <p:sp>
        <p:nvSpPr>
          <p:cNvPr id="11" name="Tuning label 2"/>
          <p:cNvSpPr txBox="1"/>
          <p:nvPr/>
        </p:nvSpPr>
        <p:spPr>
          <a:xfrm>
            <a:off x="9098280" y="30632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best cross-validation accuracy</a:t>
            </a:r>
            <a:endParaRPr lang="en-US" sz="1400" dirty="0"/>
          </a:p>
        </p:txBody>
      </p:sp>
      <p:sp>
        <p:nvSpPr>
          <p:cNvPr id="12" name="Tuning stat card 3"/>
          <p:cNvSpPr/>
          <p:nvPr/>
        </p:nvSpPr>
        <p:spPr>
          <a:xfrm>
            <a:off x="6949440" y="4480560"/>
            <a:ext cx="469087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Tuning stat 3"/>
          <p:cNvSpPr txBox="1"/>
          <p:nvPr/>
        </p:nvSpPr>
        <p:spPr>
          <a:xfrm>
            <a:off x="7178040" y="45720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66.5%</a:t>
            </a:r>
            <a:endParaRPr lang="en-US" sz="4000" dirty="0"/>
          </a:p>
        </p:txBody>
      </p:sp>
      <p:sp>
        <p:nvSpPr>
          <p:cNvPr id="14" name="Tuning label 3"/>
          <p:cNvSpPr txBox="1"/>
          <p:nvPr/>
        </p:nvSpPr>
        <p:spPr>
          <a:xfrm>
            <a:off x="9098280" y="45720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accuracy on the held-out test set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F6B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Final test performance</a:t>
            </a:r>
            <a:endParaRPr lang="en-US" sz="3600" dirty="0"/>
          </a:p>
        </p:txBody>
      </p:sp>
      <p:graphicFrame>
        <p:nvGraphicFramePr>
          <p:cNvPr id="11" name="Metric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583680" cy="20116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Class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Precision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Recall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Support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Not potable (0)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0.66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0.77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Potable (1)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0.72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5502A"/>
                          </a:solidFill>
                        </a:rPr>
                        <a:t>0.23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5502A"/>
                          </a:solidFill>
                        </a:rPr>
                        <a:t>0.35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256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Macro average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0.69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0.59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0.56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656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sult stat card 1"/>
          <p:cNvSpPr/>
          <p:nvPr/>
        </p:nvSpPr>
        <p:spPr>
          <a:xfrm>
            <a:off x="548640" y="3931920"/>
            <a:ext cx="32004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Result stat 1"/>
          <p:cNvSpPr txBox="1"/>
          <p:nvPr/>
        </p:nvSpPr>
        <p:spPr>
          <a:xfrm>
            <a:off x="731520" y="40690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4400" dirty="0"/>
          </a:p>
        </p:txBody>
      </p:sp>
      <p:sp>
        <p:nvSpPr>
          <p:cNvPr id="7" name="Result label 1"/>
          <p:cNvSpPr txBox="1"/>
          <p:nvPr/>
        </p:nvSpPr>
        <p:spPr>
          <a:xfrm>
            <a:off x="731520" y="5029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 accuracy</a:t>
            </a:r>
            <a:endParaRPr lang="en-US" sz="1400" dirty="0"/>
          </a:p>
        </p:txBody>
      </p:sp>
      <p:sp>
        <p:nvSpPr>
          <p:cNvPr id="8" name="Result stat card 2"/>
          <p:cNvSpPr/>
          <p:nvPr/>
        </p:nvSpPr>
        <p:spPr>
          <a:xfrm>
            <a:off x="3931920" y="3931920"/>
            <a:ext cx="32004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Result stat 2"/>
          <p:cNvSpPr txBox="1"/>
          <p:nvPr/>
        </p:nvSpPr>
        <p:spPr>
          <a:xfrm>
            <a:off x="4114800" y="40690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</a:t>
            </a:r>
            <a:endParaRPr lang="en-US" sz="4400" dirty="0"/>
          </a:p>
        </p:txBody>
      </p:sp>
      <p:sp>
        <p:nvSpPr>
          <p:cNvPr id="10" name="Result label 2"/>
          <p:cNvSpPr txBox="1"/>
          <p:nvPr/>
        </p:nvSpPr>
        <p:spPr>
          <a:xfrm>
            <a:off x="4114800" y="5029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ROC AUC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F6B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Discrimination: ROC curve</a:t>
            </a:r>
            <a:endParaRPr lang="en-US" sz="3600" dirty="0"/>
          </a:p>
        </p:txBody>
      </p:sp>
      <p:pic>
        <p:nvPicPr>
          <p:cNvPr id="4" name="ROC curve" descr="ROC curve of the tuned Random Forest, AUC 0.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5486400" cy="4379976"/>
          </a:xfrm>
          <a:prstGeom prst="rect">
            <a:avLst/>
          </a:prstGeom>
        </p:spPr>
      </p:pic>
      <p:sp>
        <p:nvSpPr>
          <p:cNvPr id="5" name="Comment card 1"/>
          <p:cNvSpPr/>
          <p:nvPr/>
        </p:nvSpPr>
        <p:spPr>
          <a:xfrm>
            <a:off x="6583680" y="1463040"/>
            <a:ext cx="505663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Comment head 1"/>
          <p:cNvSpPr txBox="1"/>
          <p:nvPr/>
        </p:nvSpPr>
        <p:spPr>
          <a:xfrm>
            <a:off x="6812280" y="1600200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AUC = 0.66</a:t>
            </a:r>
            <a:endParaRPr lang="en-US" sz="1800" dirty="0"/>
          </a:p>
        </p:txBody>
      </p:sp>
      <p:sp>
        <p:nvSpPr>
          <p:cNvPr id="7" name="Comment body 1"/>
          <p:cNvSpPr txBox="1"/>
          <p:nvPr/>
        </p:nvSpPr>
        <p:spPr>
          <a:xfrm>
            <a:off x="6812280" y="1993392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Above the 0.50 of random guessing, but only moderate class separation.</a:t>
            </a:r>
            <a:endParaRPr lang="en-US" sz="1400" dirty="0"/>
          </a:p>
        </p:txBody>
      </p:sp>
      <p:sp>
        <p:nvSpPr>
          <p:cNvPr id="8" name="Comment card 2"/>
          <p:cNvSpPr/>
          <p:nvPr/>
        </p:nvSpPr>
        <p:spPr>
          <a:xfrm>
            <a:off x="6583680" y="3154680"/>
            <a:ext cx="505663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Comment head 2"/>
          <p:cNvSpPr txBox="1"/>
          <p:nvPr/>
        </p:nvSpPr>
        <p:spPr>
          <a:xfrm>
            <a:off x="6812280" y="3291840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Strongest at low false-positive rates</a:t>
            </a:r>
            <a:endParaRPr lang="en-US" sz="1800" dirty="0"/>
          </a:p>
        </p:txBody>
      </p:sp>
      <p:sp>
        <p:nvSpPr>
          <p:cNvPr id="10" name="Comment body 2"/>
          <p:cNvSpPr txBox="1"/>
          <p:nvPr/>
        </p:nvSpPr>
        <p:spPr>
          <a:xfrm>
            <a:off x="6812280" y="3685032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curve rises fastest at the start, then flattens towards the diagonal.</a:t>
            </a:r>
            <a:endParaRPr lang="en-US" sz="1400" dirty="0"/>
          </a:p>
        </p:txBody>
      </p:sp>
      <p:sp>
        <p:nvSpPr>
          <p:cNvPr id="11" name="Comment card 3"/>
          <p:cNvSpPr/>
          <p:nvPr/>
        </p:nvSpPr>
        <p:spPr>
          <a:xfrm>
            <a:off x="6583680" y="4846320"/>
            <a:ext cx="505663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Comment head 3"/>
          <p:cNvSpPr txBox="1"/>
          <p:nvPr/>
        </p:nvSpPr>
        <p:spPr>
          <a:xfrm>
            <a:off x="6812280" y="4983480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The threshold matters</a:t>
            </a:r>
            <a:endParaRPr lang="en-US" sz="1800" dirty="0"/>
          </a:p>
        </p:txBody>
      </p:sp>
      <p:sp>
        <p:nvSpPr>
          <p:cNvPr id="13" name="Comment body 3"/>
          <p:cNvSpPr txBox="1"/>
          <p:nvPr/>
        </p:nvSpPr>
        <p:spPr>
          <a:xfrm>
            <a:off x="6812280" y="5376672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default 0.5 cut-off favours the majority class; a lower one would raise recall.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F6B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drives predictions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6583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Importance caption"/>
          <p:cNvSpPr txBox="1"/>
          <p:nvPr/>
        </p:nvSpPr>
        <p:spPr>
          <a:xfrm>
            <a:off x="548640" y="59436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6B73"/>
                </a:solidFill>
              </a:rPr>
              <a:t>Tuned Random Forest importances, approximate values read from the notebook plot.</a:t>
            </a:r>
            <a:endParaRPr lang="en-US" sz="1200" dirty="0"/>
          </a:p>
        </p:txBody>
      </p:sp>
      <p:sp>
        <p:nvSpPr>
          <p:cNvPr id="6" name="Comment card 1"/>
          <p:cNvSpPr/>
          <p:nvPr/>
        </p:nvSpPr>
        <p:spPr>
          <a:xfrm>
            <a:off x="7498080" y="1463040"/>
            <a:ext cx="414223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Comment head 1"/>
          <p:cNvSpPr txBox="1"/>
          <p:nvPr/>
        </p:nvSpPr>
        <p:spPr>
          <a:xfrm>
            <a:off x="7726680" y="160020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Sulfate and pH lead</a:t>
            </a:r>
            <a:endParaRPr lang="en-US" sz="1800" dirty="0"/>
          </a:p>
        </p:txBody>
      </p:sp>
      <p:sp>
        <p:nvSpPr>
          <p:cNvPr id="8" name="Comment body 1"/>
          <p:cNvSpPr txBox="1"/>
          <p:nvPr/>
        </p:nvSpPr>
        <p:spPr>
          <a:xfrm>
            <a:off x="7726680" y="1993392"/>
            <a:ext cx="3685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Both score about 0.16 in the tuned Random Forest.</a:t>
            </a:r>
            <a:endParaRPr lang="en-US" sz="1400" dirty="0"/>
          </a:p>
        </p:txBody>
      </p:sp>
      <p:sp>
        <p:nvSpPr>
          <p:cNvPr id="9" name="Comment card 2"/>
          <p:cNvSpPr/>
          <p:nvPr/>
        </p:nvSpPr>
        <p:spPr>
          <a:xfrm>
            <a:off x="7498080" y="3154680"/>
            <a:ext cx="414223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Comment head 2"/>
          <p:cNvSpPr txBox="1"/>
          <p:nvPr/>
        </p:nvSpPr>
        <p:spPr>
          <a:xfrm>
            <a:off x="7726680" y="329184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Hardness, Chloramines, Solids</a:t>
            </a:r>
            <a:endParaRPr lang="en-US" sz="1800" dirty="0"/>
          </a:p>
        </p:txBody>
      </p:sp>
      <p:sp>
        <p:nvSpPr>
          <p:cNvPr id="11" name="Comment body 2"/>
          <p:cNvSpPr txBox="1"/>
          <p:nvPr/>
        </p:nvSpPr>
        <p:spPr>
          <a:xfrm>
            <a:off x="7726680" y="3685032"/>
            <a:ext cx="3685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Mid-range importance, roughly 0.11 to 0.13.</a:t>
            </a:r>
            <a:endParaRPr lang="en-US" sz="1400" dirty="0"/>
          </a:p>
        </p:txBody>
      </p:sp>
      <p:sp>
        <p:nvSpPr>
          <p:cNvPr id="12" name="Comment card 3"/>
          <p:cNvSpPr/>
          <p:nvPr/>
        </p:nvSpPr>
        <p:spPr>
          <a:xfrm>
            <a:off x="7498080" y="4846320"/>
            <a:ext cx="414223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Comment head 3"/>
          <p:cNvSpPr txBox="1"/>
          <p:nvPr/>
        </p:nvSpPr>
        <p:spPr>
          <a:xfrm>
            <a:off x="7726680" y="498348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dominant driver</a:t>
            </a:r>
            <a:endParaRPr lang="en-US" sz="1800" dirty="0"/>
          </a:p>
        </p:txBody>
      </p:sp>
      <p:sp>
        <p:nvSpPr>
          <p:cNvPr id="14" name="Comment body 3"/>
          <p:cNvSpPr txBox="1"/>
          <p:nvPr/>
        </p:nvSpPr>
        <p:spPr>
          <a:xfrm>
            <a:off x="7726680" y="5376672"/>
            <a:ext cx="3685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Importances are flat (0.08 to 0.16), matching the weak correlations.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F6B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 and next steps</a:t>
            </a:r>
            <a:endParaRPr lang="en-US" sz="3600" dirty="0"/>
          </a:p>
        </p:txBody>
      </p:sp>
      <p:sp>
        <p:nvSpPr>
          <p:cNvPr id="4" name="Conclusion panel"/>
          <p:cNvSpPr/>
          <p:nvPr/>
        </p:nvSpPr>
        <p:spPr>
          <a:xfrm>
            <a:off x="548639" y="1463040"/>
            <a:ext cx="10964487" cy="4572000"/>
          </a:xfrm>
          <a:prstGeom prst="roundRect">
            <a:avLst>
              <a:gd name="adj" fmla="val 24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" name="Conclusion heading"/>
          <p:cNvSpPr txBox="1"/>
          <p:nvPr/>
        </p:nvSpPr>
        <p:spPr>
          <a:xfrm>
            <a:off x="868680" y="16916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6" name="Conclusion list"/>
          <p:cNvSpPr txBox="1"/>
          <p:nvPr/>
        </p:nvSpPr>
        <p:spPr>
          <a:xfrm>
            <a:off x="868680" y="2286000"/>
            <a:ext cx="1077163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Random Forest was the best of five models.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Random Forest was tuned with </a:t>
            </a:r>
            <a:r>
              <a:rPr lang="en-US" sz="2400" dirty="0" err="1">
                <a:solidFill>
                  <a:schemeClr val="bg1"/>
                </a:solidFill>
              </a:rPr>
              <a:t>GridSearchCV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On 656 held-out samples it reaches 66.5% accuracy and an AUC of 0.66.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Measurements alone carry limited signal: correlations are near zero and importances are flat.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DBFC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ter Potability">
  <a:themeElements>
    <a:clrScheme name="Water Potability">
      <a:dk1>
        <a:srgbClr val="12323B"/>
      </a:dk1>
      <a:lt1>
        <a:srgbClr val="FFFFFF"/>
      </a:lt1>
      <a:dk2>
        <a:srgbClr val="0A4D5C"/>
      </a:dk2>
      <a:lt2>
        <a:srgbClr val="E8F5F6"/>
      </a:lt2>
      <a:accent1>
        <a:srgbClr val="1FA2B3"/>
      </a:accent1>
      <a:accent2>
        <a:srgbClr val="F28C5B"/>
      </a:accent2>
      <a:accent3>
        <a:srgbClr val="6CC5CF"/>
      </a:accent3>
      <a:accent4>
        <a:srgbClr val="7FA3AB"/>
      </a:accent4>
      <a:accent5>
        <a:srgbClr val="F6C177"/>
      </a:accent5>
      <a:accent6>
        <a:srgbClr val="2E7D6B"/>
      </a:accent6>
      <a:hlink>
        <a:srgbClr val="1FA2B3"/>
      </a:hlink>
      <a:folHlink>
        <a:srgbClr val="7FA3AB"/>
      </a:folHlink>
    </a:clrScheme>
    <a:fontScheme name="Water Potabilit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1033</Words>
  <Application>Microsoft Office PowerPoint</Application>
  <PresentationFormat>Widescreen</PresentationFormat>
  <Paragraphs>192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Water Potability</vt:lpstr>
      <vt:lpstr>Water Potability Prediction</vt:lpstr>
      <vt:lpstr>Executive summary</vt:lpstr>
      <vt:lpstr>The dataset</vt:lpstr>
      <vt:lpstr>Data quality at a glance</vt:lpstr>
      <vt:lpstr>Features correlation</vt:lpstr>
      <vt:lpstr>Preprocessing pipeline</vt:lpstr>
      <vt:lpstr>Balancing classes with SMOTE</vt:lpstr>
      <vt:lpstr>Comparing five models</vt:lpstr>
      <vt:lpstr>Tuning the Random Forest</vt:lpstr>
      <vt:lpstr>Final test performance</vt:lpstr>
      <vt:lpstr>Discrimination: ROC curve</vt:lpstr>
      <vt:lpstr>What drives predictions</vt:lpstr>
      <vt:lpstr>Conclusion and next steps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Potability Prediction - Final Report</dc:title>
  <dc:subject>PptxGenJS Presentation</dc:subject>
  <dc:creator>PptxGenJS</dc:creator>
  <cp:lastModifiedBy>shravani thorat</cp:lastModifiedBy>
  <cp:revision>2</cp:revision>
  <dcterms:created xsi:type="dcterms:W3CDTF">2026-10-17T15:12:48Z</dcterms:created>
  <dcterms:modified xsi:type="dcterms:W3CDTF">2026-10-17T15:46:55Z</dcterms:modified>
</cp:coreProperties>
</file>